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6e951f68-d328-3f06-996f-5256152efd69}">
          <p14:sldIdLst>
            <p14:sldId id="256"/>
          </p14:sldIdLst>
        </p14:section>
        <p14:section name="본문" id="{4fd31dfe-034f-ae48-1abd-05aaf1e3f0df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별첨" id="{2036588a-a423-3fda-12ff-746a2efa4a42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보고 일자와 소속은 확정 후 수정.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요약 1장. 93% 저감 수치와 확보 기술, 적용 사례, 향후 계획.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추진 배경. 과제 기간은 확인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50건은 환산 예시. 실제 적용 케이스 수로 대체. 1일 8시간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확보 기술 6종과 수준. 그림 3-1 PhysicsAI 메인 화면은 필요 시 별도 장 추가.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적용 사례. 수치는 확인 후 기재.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영상은 PowerPoint에서 삽입 &gt; 비디오 &gt; 이 디바이스로 넣고 자동 재생 설정.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한계와 향후 계획.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대시보드는 본 과제 AI 학습 데이터의 지속 공급 기반.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AI 기반 포장 예측 기술 플랫폼 PoC 성과보고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AI 기반 포장 예측 기술 플랫폼 개발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PoC 성과보고  |  2026. 10  |  차완기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DOE 입력 작성 시간 93% 저감, 설계탐색 기술 확보</a:t>
            </a:r>
            <a:endParaRPr lang="en-US" sz="2600" dirty="0"/>
          </a:p>
        </p:txBody>
      </p:sp>
      <p:sp>
        <p:nvSpPr>
          <p:cNvPr id="3" name="summary-stat"/>
          <p:cNvSpPr/>
          <p:nvPr/>
        </p:nvSpPr>
        <p:spPr>
          <a:xfrm>
            <a:off x="548640" y="1371600"/>
            <a:ext cx="4206240" cy="4572000"/>
          </a:xfrm>
          <a:prstGeom prst="roundRect">
            <a:avLst>
              <a:gd name="adj" fmla="val 173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93%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DOE 해석 입력 작성 시간 저감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케이스당 210분(수작업) → 15분(자동)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동일 시간 기준 14배 많은 형상 검토 가능</a:t>
            </a:r>
            <a:endParaRPr lang="en-US" sz="1400" dirty="0"/>
          </a:p>
        </p:txBody>
      </p:sp>
      <p:sp>
        <p:nvSpPr>
          <p:cNvPr id="8" name="summary-0"/>
          <p:cNvSpPr/>
          <p:nvPr/>
        </p:nvSpPr>
        <p:spPr>
          <a:xfrm>
            <a:off x="5120640" y="1371600"/>
            <a:ext cx="6492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49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확보 기술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0574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형상 DOE 자동 생성부터 AI 예측·최적화까지 설계탐색 전 단계를 웹 플랫폼으로 연결</a:t>
            </a:r>
            <a:endParaRPr lang="en-US" sz="1400" dirty="0"/>
          </a:p>
        </p:txBody>
      </p:sp>
      <p:sp>
        <p:nvSpPr>
          <p:cNvPr id="13" name="summary-1"/>
          <p:cNvSpPr/>
          <p:nvPr/>
        </p:nvSpPr>
        <p:spPr>
          <a:xfrm>
            <a:off x="5120640" y="2971800"/>
            <a:ext cx="6492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3429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492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246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적용 사례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6576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TV 포장 쿠션 낙하 충격 성능 검증에 전 과정 적용</a:t>
            </a:r>
            <a:endParaRPr lang="en-US" sz="1400" dirty="0"/>
          </a:p>
        </p:txBody>
      </p:sp>
      <p:sp>
        <p:nvSpPr>
          <p:cNvPr id="18" name="summary-2"/>
          <p:cNvSpPr/>
          <p:nvPr/>
        </p:nvSpPr>
        <p:spPr>
          <a:xfrm>
            <a:off x="5120640" y="4572000"/>
            <a:ext cx="6492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5029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92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4846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향후 계획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5257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사내 드라이브·HPC 연동 완료 후 VD 메카그룹 해석 업무로 확산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기존 단일 FEM 검증 방식의 3가지 한계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설계안 1개를 FEM으로 해석해 불량 여부를 판정하는 방식</a:t>
            </a:r>
            <a:endParaRPr lang="en-US" sz="1600" dirty="0"/>
          </a:p>
        </p:txBody>
      </p:sp>
      <p:sp>
        <p:nvSpPr>
          <p:cNvPr id="4" name="limit-0"/>
          <p:cNvSpPr/>
          <p:nvPr/>
        </p:nvSpPr>
        <p:spPr>
          <a:xfrm>
            <a:off x="548640" y="1828800"/>
            <a:ext cx="347472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탐색 불가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해석 1건당 설계안 1개만 검증 가능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더 나은 형상 탐색 시 해석 반복 필요</a:t>
            </a:r>
            <a:endParaRPr lang="en-US" sz="1400" dirty="0"/>
          </a:p>
        </p:txBody>
      </p:sp>
      <p:sp>
        <p:nvSpPr>
          <p:cNvPr id="9" name="limit-1"/>
          <p:cNvSpPr/>
          <p:nvPr/>
        </p:nvSpPr>
        <p:spPr>
          <a:xfrm>
            <a:off x="4343400" y="1828800"/>
            <a:ext cx="347472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1031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입력 작성 부담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337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형상 변경 시마다 해석 입력 수작업 작성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케이스당 약 210분 소요</a:t>
            </a:r>
            <a:endParaRPr lang="en-US" sz="1400" dirty="0"/>
          </a:p>
        </p:txBody>
      </p:sp>
      <p:sp>
        <p:nvSpPr>
          <p:cNvPr id="14" name="limit-2"/>
          <p:cNvSpPr/>
          <p:nvPr/>
        </p:nvSpPr>
        <p:spPr>
          <a:xfrm>
            <a:off x="8138160" y="1828800"/>
            <a:ext cx="347472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1031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결과 분산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337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해석 결과가 개인 작업 폴더에 분산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재활용 및 AI 학습 데이터 활용 곤란</a:t>
            </a:r>
            <a:endParaRPr lang="en-US" sz="1400" dirty="0"/>
          </a:p>
        </p:txBody>
      </p:sp>
      <p:sp>
        <p:nvSpPr>
          <p:cNvPr id="19" name="goal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목표: 자동화와 AI 예측으로 세 한계를 해소, 설계 초기 단계에서 다수 형상을 신속 비교하는 체계 구축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케이스당 210분 → 15분, 동일 시간 14배 형상 검토</a:t>
            </a:r>
            <a:endParaRPr lang="en-US" sz="2600" dirty="0"/>
          </a:p>
        </p:txBody>
      </p:sp>
      <p:sp>
        <p:nvSpPr>
          <p:cNvPr id="3" name="stat-0"/>
          <p:cNvSpPr/>
          <p:nvPr/>
        </p:nvSpPr>
        <p:spPr>
          <a:xfrm>
            <a:off x="548640" y="1280160"/>
            <a:ext cx="34747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93%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DOE 입력 작성 시간 저감</a:t>
            </a:r>
            <a:endParaRPr lang="en-US" sz="1300" dirty="0"/>
          </a:p>
        </p:txBody>
      </p:sp>
      <p:sp>
        <p:nvSpPr>
          <p:cNvPr id="6" name="stat-1"/>
          <p:cNvSpPr/>
          <p:nvPr/>
        </p:nvSpPr>
        <p:spPr>
          <a:xfrm>
            <a:off x="4343400" y="1280160"/>
            <a:ext cx="34747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371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14배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동일 시간 내 준비 가능한 형상 수</a:t>
            </a:r>
            <a:endParaRPr lang="en-US" sz="1300" dirty="0"/>
          </a:p>
        </p:txBody>
      </p:sp>
      <p:sp>
        <p:nvSpPr>
          <p:cNvPr id="9" name="stat-2"/>
          <p:cNvSpPr/>
          <p:nvPr/>
        </p:nvSpPr>
        <p:spPr>
          <a:xfrm>
            <a:off x="8138160" y="1280160"/>
            <a:ext cx="34747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1371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162.5시간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DOE 50건 기준 절감 (175h → 12.5h)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기존: 설계안 1개를 FEM 1회로 검증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9AA7B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5387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설계안 1개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86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형상 고정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87168" y="3840480"/>
            <a:ext cx="329184" cy="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834640" y="342900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9AA7B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34640" y="35387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해석 입력 작성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3886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수작업 210분/건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73168" y="3840480"/>
            <a:ext cx="329184" cy="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20640" y="342900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9AA7B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20640" y="35387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FEM 해석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886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1회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59168" y="3840480"/>
            <a:ext cx="329184" cy="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406640" y="342900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9AA7B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06640" y="35387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불량 판정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3886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1개 설계만 검증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개선: N개 형상을 자동 생성·학습해 최적 형상 탐색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98348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9AA7B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093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설계 변수 범위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440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지정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487168" y="5394960"/>
            <a:ext cx="329184" cy="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834640" y="49834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BEBDC"/>
          </a:solidFill>
          <a:ln w="25400">
            <a:solidFill>
              <a:srgbClr val="D9771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834640" y="5093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N개 형상 DOE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2834640" y="5440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자동 15분/건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73168" y="5394960"/>
            <a:ext cx="329184" cy="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120640" y="498348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9AA7B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20640" y="5093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해석·수집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120640" y="5440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HPC 일괄 실행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059168" y="5394960"/>
            <a:ext cx="329184" cy="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406640" y="498348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9AA7B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06640" y="5093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학습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406640" y="5440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예측 모델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345168" y="5394960"/>
            <a:ext cx="329184" cy="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692640" y="498348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9AA7B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92640" y="5093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예측·최적화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9692640" y="5440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최적 형상 도출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설계탐색 전 단계를 하나의 웹 플랫폼으로 연결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572000"/>
                <a:gridCol w="137160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 범위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형상 DOE 해석 입력 자동 생성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 변수 범위 지정 시 N개 형상과 해석 입력 일괄 생성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완료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8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형상 변수가 있는 충격·낙하 해석 전반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 실행·결과 수집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생성된 입력을 HPC에 제출, 결과 자동 회수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검증 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8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8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HPC 사용 해석 업무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데이터 큐레이션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 결과를 학습용 데이터셋으로 정리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완료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8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예측 적용 해석 업무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학습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큐레이션 데이터로 예측 모델 학습 (HPC 수행)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수동 운영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0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8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예측·최적화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형상 응답(contour, 곡선) 즉시 예측, 최적 형상 탐색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완료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8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 결과 자산화·보고 자동화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32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통합 조회, Final 표준 저장, 보고서 자동 생성, SPDM 연계 (별첨)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8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해석 업무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수준: 검증 완료(실업무 적용 확인) · 구현 완료(기능 동작 확인) · 연동 검증 중(사내 시스템 연결 시험 중) · 수동 운영(자동화 전) · 운영 중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TV 포장 쿠션 낙하에 전 과정 적용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28016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801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0" y="1554480"/>
            <a:ext cx="1645920" cy="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설계 변수 정의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쿠션 형상 변수·범위 지정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0" y="1554480"/>
            <a:ext cx="1645920" cy="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8346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DOE 생성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N개 형상 해석 입력 자동 생성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0" y="1554480"/>
            <a:ext cx="1645920" cy="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1206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해석·수집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낙하 해석 수행, 결과 수집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81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86800" y="1554480"/>
            <a:ext cx="1645920" cy="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74066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학습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해석 결과 기반 예측 모델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42416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241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예측·최적화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2286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충격 응답 예측, 최적 형상 탐색</a:t>
            </a:r>
            <a:endParaRPr lang="en-US" sz="1200" dirty="0"/>
          </a:p>
        </p:txBody>
      </p:sp>
      <p:sp>
        <p:nvSpPr>
          <p:cNvPr id="27" name="[그림 4-1] DOE 형상 샘플"/>
          <p:cNvSpPr/>
          <p:nvPr/>
        </p:nvSpPr>
        <p:spPr>
          <a:xfrm>
            <a:off x="548640" y="3108960"/>
            <a:ext cx="6583680" cy="301752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15875">
            <a:solidFill>
              <a:srgbClr val="9AA7B2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731520" y="42976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[그림 4-1] DOE 형상 샘플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63600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자동 생성된 쿠션 형상 N개를 격자로 배열</a:t>
            </a:r>
            <a:endParaRPr lang="en-US" sz="1100" dirty="0"/>
          </a:p>
        </p:txBody>
      </p:sp>
      <p:sp>
        <p:nvSpPr>
          <p:cNvPr id="30" name="perf"/>
          <p:cNvSpPr/>
          <p:nvPr/>
        </p:nvSpPr>
        <p:spPr>
          <a:xfrm>
            <a:off x="7406640" y="3108960"/>
            <a:ext cx="4206240" cy="301752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8096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예측 성능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384048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FEM 대비 오차: [확인 필요]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예측 1회: [확인 필요]초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FEM 해석 1회: [확인 필요]시간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DOE 케이스 수 N: [확인 필요]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예측·최적화 결과 시연</a:t>
            </a:r>
            <a:endParaRPr lang="en-US" sz="2600" dirty="0"/>
          </a:p>
        </p:txBody>
      </p:sp>
      <p:sp>
        <p:nvSpPr>
          <p:cNvPr id="3" name="[그림 4-2] 예측 contour vs FEM contour"/>
          <p:cNvSpPr/>
          <p:nvPr/>
        </p:nvSpPr>
        <p:spPr>
          <a:xfrm>
            <a:off x="548640" y="1280160"/>
            <a:ext cx="5394960" cy="237744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5875">
            <a:solidFill>
              <a:srgbClr val="9AA7B2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73152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[그림 4-2] 예측 contour vs FEM contour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871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동일 형상의 AI 예측과 FEM 결과를 좌우 배치</a:t>
            </a:r>
            <a:endParaRPr lang="en-US" sz="1100" dirty="0"/>
          </a:p>
        </p:txBody>
      </p:sp>
      <p:sp>
        <p:nvSpPr>
          <p:cNvPr id="6" name="[그림 4-3] 충격 응답 곡선 비교"/>
          <p:cNvSpPr/>
          <p:nvPr/>
        </p:nvSpPr>
        <p:spPr>
          <a:xfrm>
            <a:off x="6217920" y="1280160"/>
            <a:ext cx="5394960" cy="237744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5875">
            <a:solidFill>
              <a:srgbClr val="9AA7B2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00800" y="2148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[그림 4-3] 충격 응답 곡선 비교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4871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예측 곡선과 FEM 곡선 중첩</a:t>
            </a:r>
            <a:endParaRPr lang="en-US" sz="1100" dirty="0"/>
          </a:p>
        </p:txBody>
      </p:sp>
      <p:sp>
        <p:nvSpPr>
          <p:cNvPr id="9" name="[그림 4-4] 최적화 결과 화면"/>
          <p:cNvSpPr/>
          <p:nvPr/>
        </p:nvSpPr>
        <p:spPr>
          <a:xfrm>
            <a:off x="548640" y="3886200"/>
            <a:ext cx="5394960" cy="237744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5875">
            <a:solidFill>
              <a:srgbClr val="9AA7B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731520" y="4754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[그림 4-4] 최적화 결과 화면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0932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최적 형상과 기존 형상의 성능 비교</a:t>
            </a:r>
            <a:endParaRPr lang="en-US" sz="1100" dirty="0"/>
          </a:p>
        </p:txBody>
      </p:sp>
      <p:sp>
        <p:nvSpPr>
          <p:cNvPr id="12" name="[시연 영상] 삽입 위치"/>
          <p:cNvSpPr/>
          <p:nvPr/>
        </p:nvSpPr>
        <p:spPr>
          <a:xfrm>
            <a:off x="6217920" y="3886200"/>
            <a:ext cx="5394960" cy="237744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5875">
            <a:solidFill>
              <a:srgbClr val="9AA7B2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400800" y="4754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[시연 영상] 삽입 위치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50932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변수 입력 → 실행 → 예측 결과, 약 1~2분 (삽입 &gt; 비디오)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실업무 정착을 위한 과제와 확산 계획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0175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현재 한계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향후 계획</a:t>
            </a:r>
            <a:endParaRPr lang="en-US" sz="1300" dirty="0"/>
          </a:p>
        </p:txBody>
      </p:sp>
      <p:sp>
        <p:nvSpPr>
          <p:cNvPr id="5" name="plan-k-0"/>
          <p:cNvSpPr/>
          <p:nvPr/>
        </p:nvSpPr>
        <p:spPr>
          <a:xfrm>
            <a:off x="548640" y="1645920"/>
            <a:ext cx="21945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해석 실행 연동</a:t>
            </a:r>
            <a:endParaRPr lang="en-US" sz="1500" dirty="0"/>
          </a:p>
        </p:txBody>
      </p:sp>
      <p:sp>
        <p:nvSpPr>
          <p:cNvPr id="7" name="plan-a-0"/>
          <p:cNvSpPr/>
          <p:nvPr/>
        </p:nvSpPr>
        <p:spPr>
          <a:xfrm>
            <a:off x="2926080" y="164592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54680" y="1645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사내 드라이브·HPC 연동 시험 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0" y="2103120"/>
            <a:ext cx="457200" cy="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98080" y="16459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BEBDC"/>
          </a:solidFill>
          <a:ln w="12700">
            <a:solidFill>
              <a:srgbClr val="FBEB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1645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연동 검증 후 DOE부터 결과 회수까지 자동화</a:t>
            </a:r>
            <a:endParaRPr lang="en-US" sz="1400" dirty="0"/>
          </a:p>
        </p:txBody>
      </p:sp>
      <p:sp>
        <p:nvSpPr>
          <p:cNvPr id="12" name="plan-k-1"/>
          <p:cNvSpPr/>
          <p:nvPr/>
        </p:nvSpPr>
        <p:spPr>
          <a:xfrm>
            <a:off x="548640" y="2743200"/>
            <a:ext cx="21945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43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 학습</a:t>
            </a:r>
            <a:endParaRPr lang="en-US" sz="1500" dirty="0"/>
          </a:p>
        </p:txBody>
      </p:sp>
      <p:sp>
        <p:nvSpPr>
          <p:cNvPr id="14" name="plan-a-1"/>
          <p:cNvSpPr/>
          <p:nvPr/>
        </p:nvSpPr>
        <p:spPr>
          <a:xfrm>
            <a:off x="2926080" y="274320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54680" y="2743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해석 SDK 미지원으로 HPC에서 수동 수행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49440" y="3200400"/>
            <a:ext cx="457200" cy="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98080" y="27432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BEBDC"/>
          </a:solidFill>
          <a:ln w="12700">
            <a:solidFill>
              <a:srgbClr val="FBEB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26680" y="2743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학습 절차 표준화와 자동화 검토</a:t>
            </a:r>
            <a:endParaRPr lang="en-US" sz="1400" dirty="0"/>
          </a:p>
        </p:txBody>
      </p:sp>
      <p:sp>
        <p:nvSpPr>
          <p:cNvPr id="19" name="plan-k-2"/>
          <p:cNvSpPr/>
          <p:nvPr/>
        </p:nvSpPr>
        <p:spPr>
          <a:xfrm>
            <a:off x="548640" y="3840480"/>
            <a:ext cx="21945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840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데이터 축적</a:t>
            </a:r>
            <a:endParaRPr lang="en-US" sz="1500" dirty="0"/>
          </a:p>
        </p:txBody>
      </p:sp>
      <p:sp>
        <p:nvSpPr>
          <p:cNvPr id="21" name="plan-a-2"/>
          <p:cNvSpPr/>
          <p:nvPr/>
        </p:nvSpPr>
        <p:spPr>
          <a:xfrm>
            <a:off x="2926080" y="384048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54680" y="38404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학습 데이터가 과제 범위 안에서만 생성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49440" y="4297680"/>
            <a:ext cx="457200" cy="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98080" y="38404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BEBDC"/>
          </a:solidFill>
          <a:ln w="12700">
            <a:solidFill>
              <a:srgbClr val="FBEB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26680" y="3840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대시보드 축적 대표 결과를 학습 데이터로 연계</a:t>
            </a:r>
            <a:endParaRPr lang="en-US" sz="1400" dirty="0"/>
          </a:p>
        </p:txBody>
      </p:sp>
      <p:sp>
        <p:nvSpPr>
          <p:cNvPr id="26" name="plan-k-3"/>
          <p:cNvSpPr/>
          <p:nvPr/>
        </p:nvSpPr>
        <p:spPr>
          <a:xfrm>
            <a:off x="548640" y="4937760"/>
            <a:ext cx="21945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적용 범위</a:t>
            </a:r>
            <a:endParaRPr lang="en-US" sz="1500" dirty="0"/>
          </a:p>
        </p:txBody>
      </p:sp>
      <p:sp>
        <p:nvSpPr>
          <p:cNvPr id="28" name="plan-a-3"/>
          <p:cNvSpPr/>
          <p:nvPr/>
        </p:nvSpPr>
        <p:spPr>
          <a:xfrm>
            <a:off x="2926080" y="493776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154680" y="49377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TV 포장 쿠션 1건 적용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0" y="5394960"/>
            <a:ext cx="457200" cy="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98080" y="493776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BEBDC"/>
          </a:solidFill>
          <a:ln w="12700">
            <a:solidFill>
              <a:srgbClr val="FBEB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26680" y="4937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VD 메카그룹 해석 업무로 확산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[별첨] 해석 결과 대시보드: 후처리·DB 축적·SPDM 연계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9377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rgbClr val="9AA7B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SPDM · 사내 드라이브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의뢰 폴더 생성, 해석 입력·결과 원본 보관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BEBDC"/>
          </a:solidFill>
          <a:ln w="25400">
            <a:solidFill>
              <a:srgbClr val="D977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해석 결과 대시보드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후처리 + 해석 DB 축적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617720"/>
            <a:ext cx="49377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rgbClr val="9AA7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PhysicsAI 플랫폼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120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DOE 생성, 학습, 예측·최적화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37360" y="2304288"/>
            <a:ext cx="0" cy="64008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874520" y="2468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폴더 자동 동기화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4023360" y="2304288"/>
            <a:ext cx="0" cy="640080"/>
          </a:xfrm>
          <a:prstGeom prst="line">
            <a:avLst/>
          </a:prstGeom>
          <a:noFill/>
          <a:ln w="19050">
            <a:solidFill>
              <a:srgbClr val="9AA7B2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416052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Final 자동 수집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37360" y="3950208"/>
            <a:ext cx="0" cy="640080"/>
          </a:xfrm>
          <a:prstGeom prst="line">
            <a:avLst/>
          </a:prstGeom>
          <a:noFill/>
          <a:ln w="19050">
            <a:solidFill>
              <a:srgbClr val="9AA7B2"/>
            </a:solidFill>
            <a:prstDash val="dash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187452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학습 데이터 연계 (향후)</a:t>
            </a:r>
            <a:endParaRPr lang="en-US" sz="1100" dirty="0"/>
          </a:p>
        </p:txBody>
      </p:sp>
      <p:sp>
        <p:nvSpPr>
          <p:cNvPr id="18" name="role-0"/>
          <p:cNvSpPr/>
          <p:nvPr/>
        </p:nvSpPr>
        <p:spPr>
          <a:xfrm>
            <a:off x="5943600" y="1325880"/>
            <a:ext cx="56692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후처리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66960" y="150876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66960" y="1508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운영 중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19659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Case 전체 결과를 한 화면에서 조회(contour·영상·차트), PPTX/HTML 보고서 자동 생성</a:t>
            </a:r>
            <a:endParaRPr lang="en-US" sz="1300" dirty="0"/>
          </a:p>
        </p:txBody>
      </p:sp>
      <p:sp>
        <p:nvSpPr>
          <p:cNvPr id="23" name="role-1"/>
          <p:cNvSpPr/>
          <p:nvPr/>
        </p:nvSpPr>
        <p:spPr>
          <a:xfrm>
            <a:off x="5943600" y="2971800"/>
            <a:ext cx="56692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해석 DB 축적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966960" y="315468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66960" y="31546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운영 중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36118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Final 지정 시 입력·결과는 Final/CAE, 보고서는 Final/Report에 표준 저장, 이력 누적</a:t>
            </a:r>
            <a:endParaRPr lang="en-US" sz="1300" dirty="0"/>
          </a:p>
        </p:txBody>
      </p:sp>
      <p:sp>
        <p:nvSpPr>
          <p:cNvPr id="28" name="role-2"/>
          <p:cNvSpPr/>
          <p:nvPr/>
        </p:nvSpPr>
        <p:spPr>
          <a:xfrm>
            <a:off x="5943600" y="4617720"/>
            <a:ext cx="56692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SPDM 연계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966960" y="480060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B8862B"/>
          </a:solidFill>
          <a:ln w="12700">
            <a:solidFill>
              <a:srgbClr val="B886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66960" y="48006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연동 검증 중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52578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SPDM 의뢰 폴더 기준 자동 등록, 주기 동기화·알림, Final 폴더 SPDM 자동 수집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[별첨] 대시보드 화면</a:t>
            </a:r>
            <a:endParaRPr lang="en-US" sz="2600" dirty="0"/>
          </a:p>
        </p:txBody>
      </p:sp>
      <p:sp>
        <p:nvSpPr>
          <p:cNvPr id="3" name="[그림 1] 결과 조회 화면"/>
          <p:cNvSpPr/>
          <p:nvPr/>
        </p:nvSpPr>
        <p:spPr>
          <a:xfrm>
            <a:off x="548640" y="1280160"/>
            <a:ext cx="3520440" cy="4846320"/>
          </a:xfrm>
          <a:prstGeom prst="roundRect">
            <a:avLst>
              <a:gd name="adj" fmla="val 1558"/>
            </a:avLst>
          </a:prstGeom>
          <a:solidFill>
            <a:schemeClr val="bg2"/>
          </a:solidFill>
          <a:ln w="15875">
            <a:solidFill>
              <a:srgbClr val="9AA7B2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731520" y="33832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[그림 1] 결과 조회 화면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2160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경로바와 결과 뷰</a:t>
            </a:r>
            <a:endParaRPr lang="en-US" sz="1100" dirty="0"/>
          </a:p>
        </p:txBody>
      </p:sp>
      <p:sp>
        <p:nvSpPr>
          <p:cNvPr id="6" name="[그림 2] Final 지정 화면"/>
          <p:cNvSpPr/>
          <p:nvPr/>
        </p:nvSpPr>
        <p:spPr>
          <a:xfrm>
            <a:off x="4343400" y="1280160"/>
            <a:ext cx="3520440" cy="4846320"/>
          </a:xfrm>
          <a:prstGeom prst="roundRect">
            <a:avLst>
              <a:gd name="adj" fmla="val 1558"/>
            </a:avLst>
          </a:prstGeom>
          <a:solidFill>
            <a:schemeClr val="bg2"/>
          </a:solidFill>
          <a:ln w="15875">
            <a:solidFill>
              <a:srgbClr val="9AA7B2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526280" y="33832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[그림 2] Final 지정 화면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372160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대표 Case 지정과 표준 저장</a:t>
            </a:r>
            <a:endParaRPr lang="en-US" sz="1100" dirty="0"/>
          </a:p>
        </p:txBody>
      </p:sp>
      <p:sp>
        <p:nvSpPr>
          <p:cNvPr id="9" name="[그림 3] 보고서 생성 화면"/>
          <p:cNvSpPr/>
          <p:nvPr/>
        </p:nvSpPr>
        <p:spPr>
          <a:xfrm>
            <a:off x="8138160" y="1280160"/>
            <a:ext cx="3474720" cy="4846320"/>
          </a:xfrm>
          <a:prstGeom prst="roundRect">
            <a:avLst>
              <a:gd name="adj" fmla="val 1579"/>
            </a:avLst>
          </a:prstGeom>
          <a:solidFill>
            <a:schemeClr val="bg2"/>
          </a:solidFill>
          <a:ln w="15875">
            <a:solidFill>
              <a:srgbClr val="9AA7B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321040" y="3383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[그림 3] 보고서 생성 화면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37216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PPTX/HTML 자동 생성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C Report">
  <a:themeElements>
    <a:clrScheme name="PoC Report">
      <a:dk1>
        <a:srgbClr val="1E2328"/>
      </a:dk1>
      <a:lt1>
        <a:srgbClr val="FFFFFF"/>
      </a:lt1>
      <a:dk2>
        <a:srgbClr val="1F3A4D"/>
      </a:dk2>
      <a:lt2>
        <a:srgbClr val="F2F4F6"/>
      </a:lt2>
      <a:accent1>
        <a:srgbClr val="D9771E"/>
      </a:accent1>
      <a:accent2>
        <a:srgbClr val="2E7D6B"/>
      </a:accent2>
      <a:accent3>
        <a:srgbClr val="5B7083"/>
      </a:accent3>
      <a:accent4>
        <a:srgbClr val="B8862B"/>
      </a:accent4>
      <a:accent5>
        <a:srgbClr val="8A3B3B"/>
      </a:accent5>
      <a:accent6>
        <a:srgbClr val="9AA7B2"/>
      </a:accent6>
      <a:hlink>
        <a:srgbClr val="1F3A4D"/>
      </a:hlink>
      <a:folHlink>
        <a:srgbClr val="5B7083"/>
      </a:folHlink>
    </a:clrScheme>
    <a:fontScheme name="PoC Repor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기반 포장 예측 기술 플랫폼 개발 PoC 성과보고</dc:title>
  <dc:subject>PptxGenJS Presentation</dc:subject>
  <dc:creator>PptxGenJS</dc:creator>
  <cp:lastModifiedBy>PptxGenJS</cp:lastModifiedBy>
  <cp:revision>1</cp:revision>
  <dcterms:created xsi:type="dcterms:W3CDTF">2026-10-17T02:40:47Z</dcterms:created>
  <dcterms:modified xsi:type="dcterms:W3CDTF">2026-10-17T02:40:47Z</dcterms:modified>
</cp:coreProperties>
</file>